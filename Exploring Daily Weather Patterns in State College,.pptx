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7" r:id="rId5"/>
    <p:sldId id="269" r:id="rId6"/>
    <p:sldId id="270" r:id="rId7"/>
    <p:sldId id="271" r:id="rId8"/>
    <p:sldId id="274" r:id="rId9"/>
    <p:sldId id="276" r:id="rId10"/>
    <p:sldId id="278" r:id="rId11"/>
    <p:sldId id="282" r:id="rId12"/>
    <p:sldId id="283" r:id="rId13"/>
    <p:sldId id="28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1" d="100"/>
          <a:sy n="211" d="100"/>
        </p:scale>
        <p:origin x="36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160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alog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ssion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8900000">
            <a:off x="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 rot="18900000">
            <a:off x="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18900000">
            <a:off x="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 rot="18900000">
            <a:off x="301752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 rot="18900000">
            <a:off x="301752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8900000">
            <a:off x="301752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18900000">
            <a:off x="6035040" y="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8900000">
            <a:off x="6035040" y="1697355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8900000">
            <a:off x="6035040" y="3394710"/>
            <a:ext cx="3017520" cy="1697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</a:rPr>
              <a:t>上海所思所见科技有限公司版权所有，www.mindshow.fun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3475" y="1176338"/>
            <a:ext cx="3791903" cy="13335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213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Exploring Daily Weather Patterns in State College, Pennsylvania</a:t>
            </a:r>
            <a:endParaRPr lang="en-US" sz="2135" dirty="0"/>
          </a:p>
        </p:txBody>
      </p:sp>
      <p:sp>
        <p:nvSpPr>
          <p:cNvPr id="4" name="Text 2"/>
          <p:cNvSpPr/>
          <p:nvPr/>
        </p:nvSpPr>
        <p:spPr>
          <a:xfrm>
            <a:off x="6657975" y="3829050"/>
            <a:ext cx="1943100" cy="55245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4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2026-04-27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1663" y="1881188"/>
            <a:ext cx="1452563" cy="6905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871663" y="2638425"/>
            <a:ext cx="2653665" cy="1619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15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3150" b="1" dirty="0" err="1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Introductio</a:t>
            </a:r>
            <a:endParaRPr lang="en-US" sz="3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788" y="385763"/>
            <a:ext cx="809720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Introduction</a:t>
            </a:r>
            <a:endParaRPr lang="en-US" sz="266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F591D18-D917-40CA-5EA2-706D50248FDE}"/>
              </a:ext>
            </a:extLst>
          </p:cNvPr>
          <p:cNvSpPr/>
          <p:nvPr/>
        </p:nvSpPr>
        <p:spPr>
          <a:xfrm>
            <a:off x="585788" y="939330"/>
            <a:ext cx="7729538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Research Objective: </a:t>
            </a:r>
            <a:r>
              <a:rPr lang="en-US" sz="14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This analysis aims to examine daily weather patterns at Pennsylvania State College.</a:t>
            </a: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endParaRPr lang="en-US" sz="1400" b="1" dirty="0">
              <a:solidFill>
                <a:srgbClr val="878787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Research Question: </a:t>
            </a:r>
            <a:r>
              <a:rPr lang="en-US" sz="14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primary focus is on the patterns of change in daily weather at State College over the past decade.</a:t>
            </a: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endParaRPr lang="en-US" sz="1400" b="1" dirty="0">
              <a:solidFill>
                <a:srgbClr val="878787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190500" indent="-190500">
              <a:lnSpc>
                <a:spcPct val="150000"/>
              </a:lnSpc>
              <a:buSzPct val="100000"/>
              <a:buFontTx/>
              <a:buChar char="•"/>
            </a:pPr>
            <a:r>
              <a:rPr lang="en-US" altLang="zh-CN" sz="140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Source: </a:t>
            </a:r>
            <a:r>
              <a:rPr lang="en-US" altLang="zh-CN" sz="14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data comes from NOAA’s Global Historical Climate Network, specifically from the weather station in State College, PA, US, with station ID GHCND:USC00368449.</a:t>
            </a:r>
          </a:p>
          <a:p>
            <a:pPr marL="190500" indent="-190500">
              <a:lnSpc>
                <a:spcPct val="150000"/>
              </a:lnSpc>
              <a:buSzPct val="100000"/>
              <a:buFontTx/>
              <a:buChar char="•"/>
            </a:pPr>
            <a:endParaRPr lang="en-US" altLang="zh-CN" sz="1400" b="1" dirty="0">
              <a:solidFill>
                <a:srgbClr val="878787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190500" indent="-190500">
              <a:lnSpc>
                <a:spcPct val="150000"/>
              </a:lnSpc>
              <a:buSzPct val="100000"/>
              <a:buFontTx/>
              <a:buChar char="•"/>
            </a:pPr>
            <a:r>
              <a:rPr lang="en-US" altLang="zh-CN" sz="1400" b="1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Variable Description: </a:t>
            </a:r>
            <a:r>
              <a:rPr lang="en-US" altLang="zh-CN" sz="14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variables include daily maximum temperature, minimum temperature, precipitation, snowfall, and snow depth. </a:t>
            </a:r>
            <a:endParaRPr lang="en-US" altLang="zh-CN" sz="1400" dirty="0"/>
          </a:p>
          <a:p>
            <a:pPr marL="190500" indent="-190500">
              <a:lnSpc>
                <a:spcPct val="150000"/>
              </a:lnSpc>
              <a:buSzPct val="100000"/>
              <a:buFontTx/>
              <a:buChar char="•"/>
            </a:pPr>
            <a:endParaRPr lang="en-US" altLang="zh-CN" sz="1400" b="1" dirty="0">
              <a:solidFill>
                <a:srgbClr val="878787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endParaRPr lang="en-US" sz="1400" b="1" dirty="0">
              <a:solidFill>
                <a:srgbClr val="878787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endParaRPr lang="en-US" sz="1400" b="1" dirty="0">
              <a:solidFill>
                <a:srgbClr val="878787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1663" y="1881188"/>
            <a:ext cx="1452563" cy="6905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871663" y="2638425"/>
            <a:ext cx="2653665" cy="1619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1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Exploratory Data Analysis</a:t>
            </a:r>
            <a:endParaRPr lang="en-US" sz="30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788" y="385763"/>
            <a:ext cx="809720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2.1 Annual Weather Summary</a:t>
            </a:r>
            <a:endParaRPr lang="en-US" sz="2660" dirty="0"/>
          </a:p>
        </p:txBody>
      </p:sp>
      <p:sp>
        <p:nvSpPr>
          <p:cNvPr id="3" name="Text 1"/>
          <p:cNvSpPr/>
          <p:nvPr/>
        </p:nvSpPr>
        <p:spPr>
          <a:xfrm>
            <a:off x="581263" y="2613557"/>
            <a:ext cx="3468798" cy="26363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Annual Summary: </a:t>
            </a: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>
              <a:rPr sz="1200" dirty="0"/>
            </a:b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Table 1 provides a summary of annual weather records, with full years consisting of 365 or 366 days.</a:t>
            </a: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Precipitation</a:t>
            </a: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>
              <a:rPr sz="1200" dirty="0"/>
            </a:b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highest total annual precipitation occurred in 2018, while the highest total snowfall occurred in 2022.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1243013"/>
            <a:ext cx="3795713" cy="90488"/>
          </a:xfrm>
          <a:prstGeom prst="rect">
            <a:avLst/>
          </a:prstGeom>
          <a:effectLst>
            <a:outerShdw blurRad="50800" dist="1270" dir="6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946845C-87F8-C448-5D8A-4C1323483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94" y="1039579"/>
            <a:ext cx="8558211" cy="153217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A9FFA57-E8C1-1BD1-0222-9042B447C869}"/>
              </a:ext>
            </a:extLst>
          </p:cNvPr>
          <p:cNvSpPr txBox="1"/>
          <p:nvPr/>
        </p:nvSpPr>
        <p:spPr>
          <a:xfrm>
            <a:off x="4571999" y="2613557"/>
            <a:ext cx="2838261" cy="1447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altLang="zh-CN" sz="12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Temperature Overview</a:t>
            </a:r>
            <a:r>
              <a:rPr lang="en-US" altLang="zh-CN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>
              <a:rPr lang="zh-CN" altLang="en-US" sz="1200" dirty="0"/>
            </a:br>
            <a:r>
              <a:rPr lang="en-US" altLang="zh-CN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annual average high temperature for a full year generally ranges from 50 to 60 degrees Fahrenheit.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788" y="385763"/>
            <a:ext cx="809720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2.2 Annual Temperature Pattern</a:t>
            </a:r>
            <a:endParaRPr lang="en-US" sz="2660" dirty="0"/>
          </a:p>
        </p:txBody>
      </p:sp>
      <p:sp>
        <p:nvSpPr>
          <p:cNvPr id="3" name="Text 1"/>
          <p:cNvSpPr/>
          <p:nvPr/>
        </p:nvSpPr>
        <p:spPr>
          <a:xfrm>
            <a:off x="585788" y="1051381"/>
            <a:ext cx="3197764" cy="3891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Temperature Patterns</a:t>
            </a: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>
              <a:rPr sz="1200" dirty="0"/>
            </a:b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Figure shows that the average annual maximum and minimum temperatures remain stable, hovering around 60°F.</a:t>
            </a: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endParaRPr lang="en-US" sz="1200" dirty="0">
              <a:solidFill>
                <a:srgbClr val="878787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Impact of Partial Data</a:t>
            </a: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>
              <a:rPr sz="1200" dirty="0"/>
            </a:b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2026 data appears unusually cold, but this is because it does not cover the entire year.</a:t>
            </a: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endParaRPr lang="en-US" sz="1200" dirty="0">
              <a:solidFill>
                <a:srgbClr val="878787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Long-Term Climate Trends:</a:t>
            </a:r>
            <a:br>
              <a:rPr lang="en-US" sz="1200" dirty="0"/>
            </a:b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cooling trend observed in 2026 should not be interpreted as a long-term pattern.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1243013"/>
            <a:ext cx="3795713" cy="90488"/>
          </a:xfrm>
          <a:prstGeom prst="rect">
            <a:avLst/>
          </a:prstGeom>
          <a:effectLst>
            <a:outerShdw blurRad="50800" dist="1270" dir="6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7D0BE87-6E8E-2130-160F-E557CBCEC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486" y="1160023"/>
            <a:ext cx="5455514" cy="3353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788" y="385763"/>
            <a:ext cx="809720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2.3 Monthly Weather Summary</a:t>
            </a:r>
            <a:endParaRPr lang="en-US" sz="2660" dirty="0"/>
          </a:p>
        </p:txBody>
      </p:sp>
      <p:sp>
        <p:nvSpPr>
          <p:cNvPr id="3" name="Text 1"/>
          <p:cNvSpPr/>
          <p:nvPr/>
        </p:nvSpPr>
        <p:spPr>
          <a:xfrm>
            <a:off x="343430" y="3031330"/>
            <a:ext cx="4357229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Month-by-Month Comparison</a:t>
            </a: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>
              <a:rPr sz="1200" dirty="0"/>
            </a:b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Table 2 shows the monthly averages and totals, illustrating the seasonal climate pattern.</a:t>
            </a:r>
            <a:r>
              <a:rPr lang="en-US" sz="12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endParaRPr lang="en-US" sz="1200" b="1" dirty="0">
              <a:solidFill>
                <a:srgbClr val="878787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Temperature Cycle:</a:t>
            </a:r>
            <a:br>
              <a:rPr sz="1200" dirty="0"/>
            </a:b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average high temperature is highest in July and lowest in January.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1243013"/>
            <a:ext cx="3795713" cy="90488"/>
          </a:xfrm>
          <a:prstGeom prst="rect">
            <a:avLst/>
          </a:prstGeom>
          <a:effectLst>
            <a:outerShdw blurRad="50800" dist="1270" dir="6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B60BE10-2D51-CE1D-3CDF-9631BB8C8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39" y="795267"/>
            <a:ext cx="7092401" cy="236958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B6162AE-3B90-1D11-3981-AE1B5DC02BB2}"/>
              </a:ext>
            </a:extLst>
          </p:cNvPr>
          <p:cNvSpPr txBox="1"/>
          <p:nvPr/>
        </p:nvSpPr>
        <p:spPr>
          <a:xfrm>
            <a:off x="4791546" y="3152593"/>
            <a:ext cx="4685168" cy="45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100000"/>
            </a:pPr>
            <a:endParaRPr lang="en-US" altLang="zh-CN" sz="1800" b="1" dirty="0">
              <a:solidFill>
                <a:srgbClr val="878787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AE4DBE-CEED-437C-F392-BFDFF50695FA}"/>
              </a:ext>
            </a:extLst>
          </p:cNvPr>
          <p:cNvSpPr txBox="1"/>
          <p:nvPr/>
        </p:nvSpPr>
        <p:spPr>
          <a:xfrm>
            <a:off x="5007952" y="3152593"/>
            <a:ext cx="2736897" cy="1170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altLang="zh-CN" sz="12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Snowfall Distribution: </a:t>
            </a:r>
            <a:br>
              <a:rPr lang="en-US" altLang="zh-CN" sz="1200" dirty="0"/>
            </a:br>
            <a:r>
              <a:rPr lang="en-US" altLang="zh-CN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Snowfall is concentrated primarily in winter and early spring.</a:t>
            </a:r>
            <a:endParaRPr lang="en-US" altLang="zh-CN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788" y="385763"/>
            <a:ext cx="809720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2.4 Seasonal Temperature Distribution</a:t>
            </a:r>
            <a:endParaRPr lang="en-US" sz="2660" dirty="0"/>
          </a:p>
        </p:txBody>
      </p:sp>
      <p:sp>
        <p:nvSpPr>
          <p:cNvPr id="3" name="Text 1"/>
          <p:cNvSpPr/>
          <p:nvPr/>
        </p:nvSpPr>
        <p:spPr>
          <a:xfrm>
            <a:off x="704850" y="1243013"/>
            <a:ext cx="3795713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Seasonal Variations</a:t>
            </a: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>
              <a:rPr sz="1200" dirty="0"/>
            </a:b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Figure 4 shows the seasonal distribution of daily maximum temperatures, with the highest values occurring in summer and the lowest in winter.</a:t>
            </a:r>
            <a:endParaRPr lang="en-US" sz="1200" dirty="0"/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Seasonal Variability:</a:t>
            </a:r>
            <a:br>
              <a:rPr sz="1200" dirty="0"/>
            </a:b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Spring and fall exhibit greater temperature fluctuations.</a:t>
            </a:r>
            <a:endParaRPr lang="en-US" sz="1200" dirty="0"/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Summer vs. Winter: </a:t>
            </a:r>
            <a:br>
              <a:rPr sz="1200" dirty="0"/>
            </a:br>
            <a:r>
              <a:rPr lang="en-US" sz="12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median temperature is higher in summer, while winter features several warmer outliers.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1243013"/>
            <a:ext cx="3795713" cy="90488"/>
          </a:xfrm>
          <a:prstGeom prst="rect">
            <a:avLst/>
          </a:prstGeom>
          <a:effectLst>
            <a:outerShdw blurRad="50800" dist="1270" dir="60000" algn="bl" rotWithShape="0">
              <a:srgbClr val="000000">
                <a:alpha val="12000"/>
              </a:srgb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2B1E09D-28C4-1236-55A4-6F9FDF2A9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3" y="1288257"/>
            <a:ext cx="4436198" cy="24177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1663" y="1881188"/>
            <a:ext cx="1452563" cy="6905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</a:rPr>
              <a:t>03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871663" y="2638425"/>
            <a:ext cx="2653665" cy="1619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5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Overall Data Story</a:t>
            </a:r>
            <a:endParaRPr lang="en-US" sz="3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788" y="385763"/>
            <a:ext cx="809720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Findings</a:t>
            </a:r>
            <a:endParaRPr lang="en-US" sz="2660" dirty="0"/>
          </a:p>
        </p:txBody>
      </p:sp>
      <p:sp>
        <p:nvSpPr>
          <p:cNvPr id="3" name="Text 1"/>
          <p:cNvSpPr/>
          <p:nvPr/>
        </p:nvSpPr>
        <p:spPr>
          <a:xfrm>
            <a:off x="704850" y="1243013"/>
            <a:ext cx="7729538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Seasonal Patterns: </a:t>
            </a:r>
            <a:br>
              <a:rPr dirty="0"/>
            </a:br>
            <a:r>
              <a:rPr lang="en-US" sz="14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climate at the state college exhibits distinct seasonal variations.</a:t>
            </a:r>
            <a:endParaRPr lang="en-US" sz="1400" dirty="0"/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Precipitation: </a:t>
            </a:r>
            <a:br>
              <a:rPr dirty="0"/>
            </a:br>
            <a:r>
              <a:rPr lang="en-US" sz="14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Precipitation is heaviest during the spring and summer months, while snowfall is concentrated in the winter and early spring.</a:t>
            </a:r>
            <a:endParaRPr lang="en-US" sz="1400" dirty="0"/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Understanding Data Distribution:</a:t>
            </a:r>
            <a:br>
              <a:rPr dirty="0"/>
            </a:br>
            <a:r>
              <a:rPr lang="en-US" sz="14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It is important to distinguish between the characteristics of daily, monthly, and annual data.</a:t>
            </a:r>
          </a:p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Year-to-Year Comparisons and Considerations: </a:t>
            </a:r>
            <a:br>
              <a:rPr dirty="0"/>
            </a:br>
            <a:r>
              <a:rPr lang="en-US" sz="14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inclusion of data from certain years can influence comparative analyses.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1663" y="1881188"/>
            <a:ext cx="1452563" cy="6905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</a:rPr>
              <a:t>04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871663" y="2638425"/>
            <a:ext cx="2653665" cy="1619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92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Code Appendix</a:t>
            </a:r>
            <a:endParaRPr lang="en-US" sz="3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788" y="385763"/>
            <a:ext cx="8097203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Code Appendix</a:t>
            </a:r>
            <a:endParaRPr lang="en-US" sz="2660" dirty="0"/>
          </a:p>
        </p:txBody>
      </p:sp>
      <p:sp>
        <p:nvSpPr>
          <p:cNvPr id="3" name="Text 1"/>
          <p:cNvSpPr/>
          <p:nvPr/>
        </p:nvSpPr>
        <p:spPr>
          <a:xfrm>
            <a:off x="704850" y="1243013"/>
            <a:ext cx="2916536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50000"/>
              </a:lnSpc>
              <a:buSzPct val="100000"/>
              <a:buChar char="•"/>
            </a:pPr>
            <a:r>
              <a:rPr lang="en-US" sz="140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 Code Overview</a:t>
            </a:r>
            <a:r>
              <a:rPr lang="en-US" sz="14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br>
              <a:rPr sz="1400" dirty="0"/>
            </a:br>
            <a:r>
              <a:rPr lang="en-US" sz="1400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code is used to read, clean, summarize, and visualize data so that the focus can be on interpreting the results.</a:t>
            </a:r>
            <a:endParaRPr lang="en-US" sz="1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19951D-E6DB-9116-9920-AA77665F39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9" r="54874"/>
          <a:stretch>
            <a:fillRect/>
          </a:stretch>
        </p:blipFill>
        <p:spPr>
          <a:xfrm>
            <a:off x="4461766" y="215567"/>
            <a:ext cx="3574760" cy="47123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2825" y="1833562"/>
            <a:ext cx="3395663" cy="552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560" b="1" dirty="0">
                <a:solidFill>
                  <a:srgbClr val="87878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END</a:t>
            </a:r>
            <a:endParaRPr lang="en-US" sz="2560" dirty="0"/>
          </a:p>
        </p:txBody>
      </p:sp>
      <p:sp>
        <p:nvSpPr>
          <p:cNvPr id="3" name="Text 1"/>
          <p:cNvSpPr/>
          <p:nvPr/>
        </p:nvSpPr>
        <p:spPr>
          <a:xfrm>
            <a:off x="3552825" y="2276475"/>
            <a:ext cx="3395663" cy="10334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383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THANKS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521</Words>
  <Application>Microsoft Office PowerPoint</Application>
  <PresentationFormat>全屏显示(16:9)</PresentationFormat>
  <Paragraphs>60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Noto Sans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Daily Weather Patterns in State College, Pennsylvania</dc:title>
  <dc:subject>SUBTITLE HERE</dc:subject>
  <dc:creator>MindShow.fun</dc:creator>
  <cp:lastModifiedBy>祺浩瀚 郑</cp:lastModifiedBy>
  <cp:revision>5</cp:revision>
  <dcterms:created xsi:type="dcterms:W3CDTF">2026-04-26T23:55:16Z</dcterms:created>
  <dcterms:modified xsi:type="dcterms:W3CDTF">2026-04-27T00:51:51Z</dcterms:modified>
</cp:coreProperties>
</file>