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9" r:id="rId3"/>
    <p:sldId id="274" r:id="rId4"/>
    <p:sldId id="277" r:id="rId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2" d="100"/>
          <a:sy n="132" d="100"/>
        </p:scale>
        <p:origin x="160" y="6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251604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09D5AC-5038-26BF-314A-0184C1822E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CB8DAE-6E36-6917-3C33-BCD8FB43F1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CC1A90-9FC7-CD35-0167-C94694F1CD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63A92A-98F7-AB29-C6A7-303BBFF2A28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65933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_slide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 rot="18900000">
            <a:off x="0" y="0"/>
            <a:ext cx="3017520" cy="16973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0E0E0"/>
                </a:solidFill>
              </a:rPr>
              <a:t>上海所思所见科技有限公司版权所有，www.mindshow.fun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 rot="18900000">
            <a:off x="0" y="1697355"/>
            <a:ext cx="3017520" cy="16973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0E0E0"/>
                </a:solidFill>
              </a:rPr>
              <a:t>上海所思所见科技有限公司版权所有，www.mindshow.fun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 rot="18900000">
            <a:off x="0" y="3394710"/>
            <a:ext cx="3017520" cy="16973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0E0E0"/>
                </a:solidFill>
              </a:rPr>
              <a:t>上海所思所见科技有限公司版权所有，www.mindshow.fun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 rot="18900000">
            <a:off x="3017520" y="0"/>
            <a:ext cx="3017520" cy="16973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0E0E0"/>
                </a:solidFill>
              </a:rPr>
              <a:t>上海所思所见科技有限公司版权所有，www.mindshow.fun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 rot="18900000">
            <a:off x="3017520" y="1697355"/>
            <a:ext cx="3017520" cy="16973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0E0E0"/>
                </a:solidFill>
              </a:rPr>
              <a:t>上海所思所见科技有限公司版权所有，www.mindshow.fun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 rot="18900000">
            <a:off x="3017520" y="3394710"/>
            <a:ext cx="3017520" cy="16973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0E0E0"/>
                </a:solidFill>
              </a:rPr>
              <a:t>上海所思所见科技有限公司版权所有，www.mindshow.fun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 rot="18900000">
            <a:off x="6035040" y="0"/>
            <a:ext cx="3017520" cy="16973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0E0E0"/>
                </a:solidFill>
              </a:rPr>
              <a:t>上海所思所见科技有限公司版权所有，www.mindshow.fun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 rot="18900000">
            <a:off x="6035040" y="1697355"/>
            <a:ext cx="3017520" cy="16973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0E0E0"/>
                </a:solidFill>
              </a:rPr>
              <a:t>上海所思所见科技有限公司版权所有，www.mindshow.fun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 rot="18900000">
            <a:off x="6035040" y="3394710"/>
            <a:ext cx="3017520" cy="16973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0E0E0"/>
                </a:solidFill>
              </a:rPr>
              <a:t>上海所思所见科技有限公司版权所有，www.mindshow.fun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talog_slide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 rot="18900000">
            <a:off x="0" y="0"/>
            <a:ext cx="3017520" cy="16973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0E0E0"/>
                </a:solidFill>
              </a:rPr>
              <a:t>上海所思所见科技有限公司版权所有，www.mindshow.fun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 rot="18900000">
            <a:off x="0" y="1697355"/>
            <a:ext cx="3017520" cy="16973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0E0E0"/>
                </a:solidFill>
              </a:rPr>
              <a:t>上海所思所见科技有限公司版权所有，www.mindshow.fun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 rot="18900000">
            <a:off x="0" y="3394710"/>
            <a:ext cx="3017520" cy="16973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0E0E0"/>
                </a:solidFill>
              </a:rPr>
              <a:t>上海所思所见科技有限公司版权所有，www.mindshow.fun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 rot="18900000">
            <a:off x="3017520" y="0"/>
            <a:ext cx="3017520" cy="16973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0E0E0"/>
                </a:solidFill>
              </a:rPr>
              <a:t>上海所思所见科技有限公司版权所有，www.mindshow.fun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 rot="18900000">
            <a:off x="3017520" y="1697355"/>
            <a:ext cx="3017520" cy="16973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0E0E0"/>
                </a:solidFill>
              </a:rPr>
              <a:t>上海所思所见科技有限公司版权所有，www.mindshow.fun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 rot="18900000">
            <a:off x="3017520" y="3394710"/>
            <a:ext cx="3017520" cy="16973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0E0E0"/>
                </a:solidFill>
              </a:rPr>
              <a:t>上海所思所见科技有限公司版权所有，www.mindshow.fun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 rot="18900000">
            <a:off x="6035040" y="0"/>
            <a:ext cx="3017520" cy="16973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0E0E0"/>
                </a:solidFill>
              </a:rPr>
              <a:t>上海所思所见科技有限公司版权所有，www.mindshow.fun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 rot="18900000">
            <a:off x="6035040" y="1697355"/>
            <a:ext cx="3017520" cy="16973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0E0E0"/>
                </a:solidFill>
              </a:rPr>
              <a:t>上海所思所见科技有限公司版权所有，www.mindshow.fun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 rot="18900000">
            <a:off x="6035040" y="3394710"/>
            <a:ext cx="3017520" cy="16973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0E0E0"/>
                </a:solidFill>
              </a:rPr>
              <a:t>上海所思所见科技有限公司版权所有，www.mindshow.fun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ssion_slide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 rot="18900000">
            <a:off x="0" y="0"/>
            <a:ext cx="3017520" cy="16973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0E0E0"/>
                </a:solidFill>
              </a:rPr>
              <a:t>上海所思所见科技有限公司版权所有，www.mindshow.fun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 rot="18900000">
            <a:off x="0" y="1697355"/>
            <a:ext cx="3017520" cy="16973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0E0E0"/>
                </a:solidFill>
              </a:rPr>
              <a:t>上海所思所见科技有限公司版权所有，www.mindshow.fun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 rot="18900000">
            <a:off x="0" y="3394710"/>
            <a:ext cx="3017520" cy="16973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0E0E0"/>
                </a:solidFill>
              </a:rPr>
              <a:t>上海所思所见科技有限公司版权所有，www.mindshow.fun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 rot="18900000">
            <a:off x="3017520" y="0"/>
            <a:ext cx="3017520" cy="16973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0E0E0"/>
                </a:solidFill>
              </a:rPr>
              <a:t>上海所思所见科技有限公司版权所有，www.mindshow.fun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 rot="18900000">
            <a:off x="3017520" y="1697355"/>
            <a:ext cx="3017520" cy="16973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0E0E0"/>
                </a:solidFill>
              </a:rPr>
              <a:t>上海所思所见科技有限公司版权所有，www.mindshow.fun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 rot="18900000">
            <a:off x="3017520" y="3394710"/>
            <a:ext cx="3017520" cy="16973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0E0E0"/>
                </a:solidFill>
              </a:rPr>
              <a:t>上海所思所见科技有限公司版权所有，www.mindshow.fun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 rot="18900000">
            <a:off x="6035040" y="0"/>
            <a:ext cx="3017520" cy="16973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0E0E0"/>
                </a:solidFill>
              </a:rPr>
              <a:t>上海所思所见科技有限公司版权所有，www.mindshow.fun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 rot="18900000">
            <a:off x="6035040" y="1697355"/>
            <a:ext cx="3017520" cy="16973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0E0E0"/>
                </a:solidFill>
              </a:rPr>
              <a:t>上海所思所见科技有限公司版权所有，www.mindshow.fun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 rot="18900000">
            <a:off x="6035040" y="3394710"/>
            <a:ext cx="3017520" cy="16973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0E0E0"/>
                </a:solidFill>
              </a:rPr>
              <a:t>上海所思所见科技有限公司版权所有，www.mindshow.fun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slide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 rot="18900000">
            <a:off x="0" y="0"/>
            <a:ext cx="3017520" cy="16973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0E0E0"/>
                </a:solidFill>
              </a:rPr>
              <a:t>上海所思所见科技有限公司版权所有，www.mindshow.fun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 rot="18900000">
            <a:off x="0" y="1697355"/>
            <a:ext cx="3017520" cy="16973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0E0E0"/>
                </a:solidFill>
              </a:rPr>
              <a:t>上海所思所见科技有限公司版权所有，www.mindshow.fun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 rot="18900000">
            <a:off x="0" y="3394710"/>
            <a:ext cx="3017520" cy="16973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0E0E0"/>
                </a:solidFill>
              </a:rPr>
              <a:t>上海所思所见科技有限公司版权所有，www.mindshow.fun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 rot="18900000">
            <a:off x="3017520" y="0"/>
            <a:ext cx="3017520" cy="16973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0E0E0"/>
                </a:solidFill>
              </a:rPr>
              <a:t>上海所思所见科技有限公司版权所有，www.mindshow.fun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 rot="18900000">
            <a:off x="3017520" y="1697355"/>
            <a:ext cx="3017520" cy="16973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0E0E0"/>
                </a:solidFill>
              </a:rPr>
              <a:t>上海所思所见科技有限公司版权所有，www.mindshow.fun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 rot="18900000">
            <a:off x="3017520" y="3394710"/>
            <a:ext cx="3017520" cy="16973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0E0E0"/>
                </a:solidFill>
              </a:rPr>
              <a:t>上海所思所见科技有限公司版权所有，www.mindshow.fun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 rot="18900000">
            <a:off x="6035040" y="0"/>
            <a:ext cx="3017520" cy="16973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0E0E0"/>
                </a:solidFill>
              </a:rPr>
              <a:t>上海所思所见科技有限公司版权所有，www.mindshow.fun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 rot="18900000">
            <a:off x="6035040" y="1697355"/>
            <a:ext cx="3017520" cy="16973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0E0E0"/>
                </a:solidFill>
              </a:rPr>
              <a:t>上海所思所见科技有限公司版权所有，www.mindshow.fun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 rot="18900000">
            <a:off x="6035040" y="3394710"/>
            <a:ext cx="3017520" cy="16973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0E0E0"/>
                </a:solidFill>
              </a:rPr>
              <a:t>上海所思所见科技有限公司版权所有，www.mindshow.fun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_slide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 rot="18900000">
            <a:off x="0" y="0"/>
            <a:ext cx="3017520" cy="16973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0E0E0"/>
                </a:solidFill>
              </a:rPr>
              <a:t>上海所思所见科技有限公司版权所有，www.mindshow.fun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 rot="18900000">
            <a:off x="0" y="1697355"/>
            <a:ext cx="3017520" cy="16973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0E0E0"/>
                </a:solidFill>
              </a:rPr>
              <a:t>上海所思所见科技有限公司版权所有，www.mindshow.fun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 rot="18900000">
            <a:off x="0" y="3394710"/>
            <a:ext cx="3017520" cy="16973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0E0E0"/>
                </a:solidFill>
              </a:rPr>
              <a:t>上海所思所见科技有限公司版权所有，www.mindshow.fun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 rot="18900000">
            <a:off x="3017520" y="0"/>
            <a:ext cx="3017520" cy="16973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0E0E0"/>
                </a:solidFill>
              </a:rPr>
              <a:t>上海所思所见科技有限公司版权所有，www.mindshow.fun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 rot="18900000">
            <a:off x="3017520" y="1697355"/>
            <a:ext cx="3017520" cy="16973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0E0E0"/>
                </a:solidFill>
              </a:rPr>
              <a:t>上海所思所见科技有限公司版权所有，www.mindshow.fun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 rot="18900000">
            <a:off x="3017520" y="3394710"/>
            <a:ext cx="3017520" cy="16973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0E0E0"/>
                </a:solidFill>
              </a:rPr>
              <a:t>上海所思所见科技有限公司版权所有，www.mindshow.fun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 rot="18900000">
            <a:off x="6035040" y="0"/>
            <a:ext cx="3017520" cy="16973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0E0E0"/>
                </a:solidFill>
              </a:rPr>
              <a:t>上海所思所见科技有限公司版权所有，www.mindshow.fun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 rot="18900000">
            <a:off x="6035040" y="1697355"/>
            <a:ext cx="3017520" cy="16973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0E0E0"/>
                </a:solidFill>
              </a:rPr>
              <a:t>上海所思所见科技有限公司版权所有，www.mindshow.fun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 rot="18900000">
            <a:off x="6035040" y="3394710"/>
            <a:ext cx="3017520" cy="16973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0E0E0"/>
                </a:solidFill>
              </a:rPr>
              <a:t>上海所思所见科技有限公司版权所有，www.mindshow.fun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43475" y="1176338"/>
            <a:ext cx="3791903" cy="13335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r">
              <a:buNone/>
            </a:pPr>
            <a:r>
              <a:rPr lang="en-US" sz="213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Exploring Daily Weather Patterns in State College, Pennsylvania</a:t>
            </a:r>
            <a:endParaRPr lang="en-US" sz="2135" dirty="0"/>
          </a:p>
        </p:txBody>
      </p:sp>
      <p:sp>
        <p:nvSpPr>
          <p:cNvPr id="4" name="Text 2"/>
          <p:cNvSpPr/>
          <p:nvPr/>
        </p:nvSpPr>
        <p:spPr>
          <a:xfrm>
            <a:off x="6657975" y="3829050"/>
            <a:ext cx="1943100" cy="55245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r">
              <a:buNone/>
            </a:pPr>
            <a:r>
              <a:rPr lang="en-US" sz="1400" dirty="0">
                <a:solidFill>
                  <a:srgbClr val="87878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2026-04-27</a:t>
            </a:r>
            <a:endParaRPr lang="en-US" sz="1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5A3DB8-3692-DDDD-F655-69A23418A646}"/>
              </a:ext>
            </a:extLst>
          </p:cNvPr>
          <p:cNvSpPr txBox="1"/>
          <p:nvPr/>
        </p:nvSpPr>
        <p:spPr>
          <a:xfrm>
            <a:off x="6006164" y="2703980"/>
            <a:ext cx="2995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By</a:t>
            </a:r>
            <a:r>
              <a:rPr lang="en-US" dirty="0">
                <a:solidFill>
                  <a:schemeClr val="bg1"/>
                </a:solidFill>
              </a:rPr>
              <a:t>: Qihaohan, Ata, Jincheng</a:t>
            </a:r>
            <a:endParaRPr lang="en-US" sz="18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788" y="385763"/>
            <a:ext cx="8097203" cy="552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66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8F591D18-D917-40CA-5EA2-706D50248FDE}"/>
              </a:ext>
            </a:extLst>
          </p:cNvPr>
          <p:cNvSpPr/>
          <p:nvPr/>
        </p:nvSpPr>
        <p:spPr>
          <a:xfrm>
            <a:off x="585788" y="939330"/>
            <a:ext cx="7729538" cy="345281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lnSpc>
                <a:spcPct val="150000"/>
              </a:lnSpc>
              <a:buSzPct val="100000"/>
              <a:buChar char="•"/>
            </a:pPr>
            <a:endParaRPr lang="en-US" sz="2000" b="1" dirty="0">
              <a:solidFill>
                <a:srgbClr val="878787"/>
              </a:solidFill>
              <a:latin typeface="Noto Sans SC" pitchFamily="34" charset="0"/>
              <a:ea typeface="Noto Sans SC" pitchFamily="34" charset="-122"/>
              <a:cs typeface="Noto Sans SC" pitchFamily="34" charset="-120"/>
            </a:endParaRPr>
          </a:p>
          <a:p>
            <a:pPr marL="190500" indent="-190500">
              <a:lnSpc>
                <a:spcPct val="150000"/>
              </a:lnSpc>
              <a:buSzPct val="100000"/>
              <a:buFontTx/>
              <a:buChar char="•"/>
            </a:pPr>
            <a:r>
              <a:rPr lang="en-US" sz="2000" b="1" dirty="0">
                <a:solidFill>
                  <a:srgbClr val="FF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Daily weather patterns in State College, PA</a:t>
            </a:r>
          </a:p>
          <a:p>
            <a:pPr marL="190500" indent="-190500">
              <a:lnSpc>
                <a:spcPct val="150000"/>
              </a:lnSpc>
              <a:buSzPct val="100000"/>
              <a:buFontTx/>
              <a:buChar char="•"/>
            </a:pPr>
            <a:r>
              <a:rPr lang="en-US" sz="2000" b="1" dirty="0">
                <a:solidFill>
                  <a:srgbClr val="FF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NOAA station data for State College, PA</a:t>
            </a:r>
          </a:p>
          <a:p>
            <a:pPr marL="190500" indent="-190500">
              <a:lnSpc>
                <a:spcPct val="150000"/>
              </a:lnSpc>
              <a:buSzPct val="100000"/>
              <a:buFontTx/>
              <a:buChar char="•"/>
            </a:pPr>
            <a:r>
              <a:rPr lang="en-US" sz="2000" b="1" dirty="0">
                <a:solidFill>
                  <a:srgbClr val="FF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Main variables: maximum temperature, minimum temperature, precipitation, snowfall, and snow depth</a:t>
            </a:r>
            <a:endParaRPr lang="en-US" sz="2000" b="1" dirty="0">
              <a:solidFill>
                <a:srgbClr val="878787"/>
              </a:solidFill>
              <a:latin typeface="Noto Sans SC" pitchFamily="34" charset="0"/>
              <a:ea typeface="Noto Sans SC" pitchFamily="34" charset="-122"/>
              <a:cs typeface="Noto Sans SC" pitchFamily="34" charset="-120"/>
            </a:endParaRPr>
          </a:p>
          <a:p>
            <a:pPr marL="190500" indent="-190500">
              <a:lnSpc>
                <a:spcPct val="150000"/>
              </a:lnSpc>
              <a:buSzPct val="100000"/>
              <a:buChar char="•"/>
            </a:pPr>
            <a:endParaRPr lang="en-US" sz="2000" b="1" dirty="0">
              <a:solidFill>
                <a:srgbClr val="878787"/>
              </a:solidFill>
              <a:latin typeface="Noto Sans SC" pitchFamily="34" charset="0"/>
              <a:ea typeface="Noto Sans SC" pitchFamily="34" charset="-122"/>
              <a:cs typeface="Noto Sans SC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B0A71A-BF55-670E-B191-DCEA421FE298}"/>
              </a:ext>
            </a:extLst>
          </p:cNvPr>
          <p:cNvSpPr txBox="1"/>
          <p:nvPr/>
        </p:nvSpPr>
        <p:spPr>
          <a:xfrm>
            <a:off x="585788" y="320470"/>
            <a:ext cx="724917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/>
              <a:t>What We’re Exploring</a:t>
            </a:r>
            <a:endParaRPr lang="en-US" sz="3000" dirty="0"/>
          </a:p>
          <a:p>
            <a:endParaRPr lang="en-US" sz="3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788" y="385763"/>
            <a:ext cx="8097203" cy="552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660" dirty="0"/>
          </a:p>
        </p:txBody>
      </p:sp>
      <p:sp>
        <p:nvSpPr>
          <p:cNvPr id="3" name="Text 1"/>
          <p:cNvSpPr/>
          <p:nvPr/>
        </p:nvSpPr>
        <p:spPr>
          <a:xfrm>
            <a:off x="394636" y="1243013"/>
            <a:ext cx="3543953" cy="345281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Precipitation happens year round in State College</a:t>
            </a:r>
          </a:p>
          <a:p>
            <a:pPr marL="171450" indent="-17145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Spring and summer months appear wetter overall</a:t>
            </a:r>
          </a:p>
          <a:p>
            <a:pPr marL="171450" indent="-17145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May shows the highest total precipitation in our summarized data</a:t>
            </a: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3438" y="1243013"/>
            <a:ext cx="3795713" cy="90488"/>
          </a:xfrm>
          <a:prstGeom prst="rect">
            <a:avLst/>
          </a:prstGeom>
          <a:effectLst>
            <a:outerShdw blurRad="50800" dist="1270" dir="60000" algn="bl" rotWithShape="0">
              <a:srgbClr val="000000">
                <a:alpha val="12000"/>
              </a:srgb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AA55C67-0CA7-FA7D-A78E-6E035AAE63C8}"/>
              </a:ext>
            </a:extLst>
          </p:cNvPr>
          <p:cNvSpPr txBox="1"/>
          <p:nvPr/>
        </p:nvSpPr>
        <p:spPr>
          <a:xfrm>
            <a:off x="461009" y="385763"/>
            <a:ext cx="306077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One Insight So Far</a:t>
            </a:r>
            <a:endParaRPr lang="en-US" sz="30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6D9A139-5403-FC2E-F7C3-1CA22840A5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1978" y="1029502"/>
            <a:ext cx="5217367" cy="308449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B02530-E107-5C2D-89EE-0E027FD5A8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440983D-D325-80EE-8CF0-1EDCA39B178C}"/>
              </a:ext>
            </a:extLst>
          </p:cNvPr>
          <p:cNvSpPr/>
          <p:nvPr/>
        </p:nvSpPr>
        <p:spPr>
          <a:xfrm>
            <a:off x="585788" y="385763"/>
            <a:ext cx="8097203" cy="552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66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05F87E3-2677-546A-8247-52AA5536159C}"/>
              </a:ext>
            </a:extLst>
          </p:cNvPr>
          <p:cNvSpPr/>
          <p:nvPr/>
        </p:nvSpPr>
        <p:spPr>
          <a:xfrm>
            <a:off x="333526" y="1243013"/>
            <a:ext cx="3639937" cy="345281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2016 and 2026 are partial years, not full calendar years</a:t>
            </a:r>
          </a:p>
          <a:p>
            <a:pPr marL="171450" indent="-17145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Including them can distort annual comparisons </a:t>
            </a:r>
          </a:p>
          <a:p>
            <a:pPr marL="171450" indent="-17145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The sharp 2026 drop does not mean a true climate shift </a:t>
            </a:r>
          </a:p>
          <a:p>
            <a:pPr marL="171450" indent="-17145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For presentation purposes, we compare full years only</a:t>
            </a:r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54226ACE-6917-443A-0563-E0AFDE08DC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3438" y="1243013"/>
            <a:ext cx="3795713" cy="90488"/>
          </a:xfrm>
          <a:prstGeom prst="rect">
            <a:avLst/>
          </a:prstGeom>
          <a:effectLst>
            <a:outerShdw blurRad="50800" dist="1270" dir="60000" algn="bl" rotWithShape="0">
              <a:srgbClr val="000000">
                <a:alpha val="12000"/>
              </a:srgb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EF81165-287A-5CD4-5C5D-BBB682EB8CAE}"/>
              </a:ext>
            </a:extLst>
          </p:cNvPr>
          <p:cNvSpPr txBox="1"/>
          <p:nvPr/>
        </p:nvSpPr>
        <p:spPr>
          <a:xfrm>
            <a:off x="585788" y="348621"/>
            <a:ext cx="5940472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/>
              <a:t>Challenge: Partial Years Can Mislead</a:t>
            </a:r>
            <a:endParaRPr lang="en-US" sz="30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17C1BF4-BF3A-AF34-CFA7-FC31D29D52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8084" y="1178092"/>
            <a:ext cx="5371042" cy="3452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41087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127</Words>
  <Application>Microsoft Macintosh PowerPoint</Application>
  <PresentationFormat>On-screen Show (16:9)</PresentationFormat>
  <Paragraphs>21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Noto Sans SC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Exploring Daily Weather Patterns in State College, Pennsylvania</dc:title>
  <dc:subject>SUBTITLE HERE</dc:subject>
  <dc:creator>MindShow.fun</dc:creator>
  <cp:lastModifiedBy>Ata Dural</cp:lastModifiedBy>
  <cp:revision>10</cp:revision>
  <dcterms:created xsi:type="dcterms:W3CDTF">2026-04-26T23:55:16Z</dcterms:created>
  <dcterms:modified xsi:type="dcterms:W3CDTF">2026-04-27T17:25:59Z</dcterms:modified>
</cp:coreProperties>
</file>